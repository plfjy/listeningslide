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av" ContentType="application/octet-stream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Table Grid">
    <a:wholeTbl>
      <a:tcTxStyle b="off">
        <a:fontRef idx="minor"/>
        <a:schemeClr val="dk1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</a:tcStyle>
    </a:wholeTbl>
    <a:firstRow>
      <a:tcTxStyle b="on">
        <a:fontRef idx="minor"/>
        <a:schemeClr val="dk1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</a:tcStyle>
    </a:firstRow>
  </a:tblStyle>
</a:tblStyleLst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3" Type="http://schemas.openxmlformats.org/officeDocument/2006/relationships/image" Target="../media/image4.png"/><Relationship Id="rId4" Type="http://schemas.openxmlformats.org/officeDocument/2006/relationships/audio" Target="../media/audio3.wav"/><Relationship Id="rId5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428625"/>
            <a:ext cx="4762500" cy="2286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100" b="1" dirty="0">
                <a:solidFill>
                  <a:srgbClr val="6C8C7D"/>
                </a:solidFill>
                <a:latin typeface="Arial"/>
              </a:rPr>
              <a:t>LISTENING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20125" y="438150"/>
            <a:ext cx="2857500" cy="2095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900" dirty="0">
                <a:solidFill>
                  <a:srgbClr val="8FA697"/>
                </a:solidFill>
                <a:latin typeface="Arial"/>
              </a:rPr>
              <a:t>CLASSROOM DEMO     /     01 OF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38250"/>
            <a:ext cx="10477500" cy="9144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6600" dirty="0">
                <a:solidFill>
                  <a:srgbClr val="304D41"/>
                </a:solidFill>
                <a:latin typeface="Arial"/>
              </a:rPr>
              <a:t>Listen.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190750"/>
            <a:ext cx="10477500" cy="9144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6600" dirty="0">
                <a:solidFill>
                  <a:srgbClr val="719383"/>
                </a:solidFill>
                <a:latin typeface="Arial"/>
              </a:rPr>
              <a:t>Pause. Understand.</a:t>
            </a:r>
          </a:p>
        </p:txBody>
      </p:sp>
      <p:sp>
        <p:nvSpPr>
          <p:cNvPr id="6" name="Shape 5"/>
          <p:cNvSpPr/>
          <p:nvPr/>
        </p:nvSpPr>
        <p:spPr>
          <a:xfrm>
            <a:off x="685800" y="3524250"/>
            <a:ext cx="533400" cy="19050"/>
          </a:xfrm>
          <a:prstGeom prst="rect">
            <a:avLst/>
          </a:prstGeom>
          <a:solidFill>
            <a:srgbClr val="A9BFAE"/>
          </a:solid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685800" y="3819525"/>
            <a:ext cx="10001250" cy="619125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2400" dirty="0">
                <a:solidFill>
                  <a:srgbClr val="304D41"/>
                </a:solidFill>
                <a:latin typeface="Arial"/>
              </a:rPr>
              <a:t>A little space for a better understanding.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9525000" cy="3810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500" dirty="0">
                <a:solidFill>
                  <a:srgbClr val="889B8E"/>
                </a:solidFill>
                <a:latin typeface="Arial"/>
              </a:rPr>
              <a:t>方向键显示答案 · 左划下一页 · 右划上一页</a:t>
            </a:r>
          </a:p>
        </p:txBody>
      </p:sp>
      <p:sp>
        <p:nvSpPr>
          <p:cNvPr id="9" name="Hidden answer"/>
          <p:cNvSpPr txBox="1"/>
          <p:nvPr/>
        </p:nvSpPr>
        <p:spPr>
          <a:xfrm>
            <a:off x="685800" y="5095875"/>
            <a:ext cx="7429500" cy="5715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187F62"/>
                </a:solidFill>
                <a:latin typeface="Arial"/>
              </a:rPr>
              <a:t>The answer is: GREEN</a:t>
            </a:r>
          </a:p>
        </p:txBody>
      </p:sp>
      <p:pic>
        <p:nvPicPr>
          <p:cNvPr id="10" name="演示音轨 · 裁剪 1–10 秒"/>
          <p:cNvPicPr/>
          <p:nvPr>
            <a:audioFile r:link="rId2"/>
            <p:extLst>
              <p:ext uri="{DAA4B4D4-7520-4FA2-801F-5F27E6A7C839}">
                <p14:media>
                  <p14:trim st="1000" end="2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191750" y="3238500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44125" y="3790950"/>
            <a:ext cx="952500" cy="238125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900" dirty="0">
                <a:solidFill>
                  <a:srgbClr val="7D9487"/>
                </a:solidFill>
                <a:latin typeface="Arial"/>
              </a:rPr>
              <a:t>AUDIO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428625"/>
            <a:ext cx="4762500" cy="2286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100" b="1" dirty="0">
                <a:solidFill>
                  <a:srgbClr val="6C8C7D"/>
                </a:solidFill>
                <a:latin typeface="Arial"/>
              </a:rPr>
              <a:t>LISTENING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20125" y="438150"/>
            <a:ext cx="2857500" cy="2095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900" dirty="0">
                <a:solidFill>
                  <a:srgbClr val="8FA697"/>
                </a:solidFill>
                <a:latin typeface="Arial"/>
              </a:rPr>
              <a:t>CLASSROOM DEMO     /     02 OF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38250"/>
            <a:ext cx="10763250" cy="857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4600" dirty="0">
                <a:solidFill>
                  <a:srgbClr val="304D41"/>
                </a:solidFill>
                <a:latin typeface="Arial"/>
              </a:rPr>
              <a:t>Make every replay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05050"/>
            <a:ext cx="10001250" cy="5715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2700" dirty="0">
                <a:solidFill>
                  <a:srgbClr val="749381"/>
                </a:solidFill>
                <a:latin typeface="Arial"/>
              </a:rPr>
              <a:t>One source. Two listening moments.</a:t>
            </a:r>
          </a:p>
        </p:txBody>
      </p:sp>
      <p:sp>
        <p:nvSpPr>
          <p:cNvPr id="6" name="Shape 5"/>
          <p:cNvSpPr/>
          <p:nvPr/>
        </p:nvSpPr>
        <p:spPr>
          <a:xfrm>
            <a:off x="685800" y="3381375"/>
            <a:ext cx="10744200" cy="9525"/>
          </a:xfrm>
          <a:prstGeom prst="rect">
            <a:avLst/>
          </a:prstGeom>
          <a:solidFill>
            <a:srgbClr val="DCE7DC"/>
          </a:solid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714375" y="3714750"/>
            <a:ext cx="9715500" cy="523875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2500" dirty="0">
                <a:solidFill>
                  <a:srgbClr val="304D41"/>
                </a:solidFill>
                <a:latin typeface="Arial"/>
              </a:rPr>
              <a:t>01    Listen for the main idea.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4524375"/>
            <a:ext cx="9715500" cy="523875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2500" dirty="0">
                <a:solidFill>
                  <a:srgbClr val="304D41"/>
                </a:solidFill>
                <a:latin typeface="Arial"/>
              </a:rPr>
              <a:t>02    Listen for the details.</a:t>
            </a:r>
          </a:p>
        </p:txBody>
      </p:sp>
      <p:pic>
        <p:nvPicPr>
          <p:cNvPr id="9" name="片段 A · 1–10 秒"/>
          <p:cNvPicPr/>
          <p:nvPr>
            <a:audioFile r:link="rId2"/>
            <p:extLst>
              <p:ext uri="{DAA4B4D4-7520-4FA2-801F-5F27E6A7C839}">
                <p14:media>
                  <p14:trim st="1000" end="2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429750" y="5276850"/>
            <a:ext cx="400050" cy="400050"/>
          </a:xfrm>
          <a:prstGeom prst="rect">
            <a:avLst/>
          </a:prstGeom>
        </p:spPr>
      </p:pic>
      <p:pic>
        <p:nvPicPr>
          <p:cNvPr id="10" name="片段 B · 同源 3–8 秒"/>
          <p:cNvPicPr/>
          <p:nvPr>
            <a:audioFile r:link="rId4"/>
            <p:extLst>
              <p:ext uri="{DAA4B4D4-7520-4FA2-801F-5F27E6A7C839}">
                <p14:media>
                  <p14:trim st="3000" end="4s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82250" y="5276850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5619750"/>
            <a:ext cx="8096250" cy="428625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500" dirty="0">
                <a:solidFill>
                  <a:srgbClr val="889B8E"/>
                </a:solidFill>
                <a:latin typeface="Arial"/>
              </a:rPr>
              <a:t>选择两段音频，观察独立的裁剪时间轴。</a:t>
            </a:r>
          </a:p>
        </p:txBody>
      </p:sp>
    </p:spTree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428625"/>
            <a:ext cx="4762500" cy="2286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100" b="1" dirty="0">
                <a:solidFill>
                  <a:srgbClr val="6C8C7D"/>
                </a:solidFill>
                <a:latin typeface="Arial"/>
              </a:rPr>
              <a:t>LISTENING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20125" y="438150"/>
            <a:ext cx="2857500" cy="2095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900" dirty="0">
                <a:solidFill>
                  <a:srgbClr val="8FA697"/>
                </a:solidFill>
                <a:latin typeface="Arial"/>
              </a:rPr>
              <a:t>CLASSROOM DEMO     /     03 OF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428750"/>
            <a:ext cx="10572750" cy="857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6000" dirty="0">
                <a:solidFill>
                  <a:srgbClr val="E8F2E8"/>
                </a:solidFill>
                <a:latin typeface="Arial"/>
              </a:rPr>
              <a:t>Less operating.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381250"/>
            <a:ext cx="10572750" cy="857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6000" dirty="0">
                <a:solidFill>
                  <a:srgbClr val="99C6AC"/>
                </a:solidFill>
                <a:latin typeface="Arial"/>
              </a:rPr>
              <a:t>More teaching.</a:t>
            </a:r>
          </a:p>
        </p:txBody>
      </p:sp>
      <p:sp>
        <p:nvSpPr>
          <p:cNvPr id="6" name="Shape 5"/>
          <p:cNvSpPr/>
          <p:nvPr/>
        </p:nvSpPr>
        <p:spPr>
          <a:xfrm>
            <a:off x="685800" y="3810000"/>
            <a:ext cx="571500" cy="19050"/>
          </a:xfrm>
          <a:prstGeom prst="rect">
            <a:avLst/>
          </a:prstGeom>
          <a:solidFill>
            <a:srgbClr val="70967D"/>
          </a:solid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685800" y="4238625"/>
            <a:ext cx="10477500" cy="5715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2400" dirty="0">
                <a:solidFill>
                  <a:srgbClr val="ADCCBA"/>
                </a:solidFill>
                <a:latin typeface="Arial"/>
              </a:rPr>
              <a:t>拖动 · 调整大小 · 折叠 · 自由回听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86375"/>
            <a:ext cx="104775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500" dirty="0">
                <a:solidFill>
                  <a:srgbClr val="7DA18B"/>
                </a:solidFill>
                <a:latin typeface="Arial"/>
              </a:rPr>
              <a:t>右划返回上一页，动画与音频将回到起点。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94000"/>
                <a:satMod val="110000"/>
              </a:schemeClr>
            </a:gs>
            <a:gs pos="1000">
              <a:schemeClr val="phClr">
                <a:tint val="94000"/>
                <a:satMod val="120000"/>
              </a:schemeClr>
            </a:gs>
            <a:gs pos="100000">
              <a:schemeClr val="phClr">
                <a:shade val="94000"/>
                <a:satMod val="120000"/>
              </a:schemeClr>
            </a:gs>
          </a:gsLst>
          <a:lin ang="4553000" scaled="0"/>
        </a:gradFill>
        <a:solidFill>
          <a:schemeClr val="phClr">
            <a:tint val="60000"/>
            <a:satMod val="17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97000"/>
                <a:satMod val="13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Listening Lab</dc:title>
  <dc:creator>ListeningSlide</dc:creator>
  <cp:lastModifiedBy>ListeningSlide</cp:lastModifiedBy>
  <dcterms:created xsi:type="dcterms:W3CDTF">2026-10-21T06:42:20Z</dcterms:created>
  <dcterms:modified xsi:type="dcterms:W3CDTF">2026-10-21T06:42:20Z</dcterms:modified>
</cp:coreProperties>
</file>